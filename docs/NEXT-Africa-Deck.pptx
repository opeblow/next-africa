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Existing tools were not built for this user. None of them start from a WhatsApp message.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Personas are drawn from docs/PROBLEM-FIT.md, mapped to real feature moments.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Capture in the words you already use - live build at https://next-africa.pages.dev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Today is the only board that matters - live build at https://next-africa.pages.dev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It follows up, so you do not have to - live build at https://next-africa.pages.dev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Projects assemble themselves - live build at https://next-africa.pages.dev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Live recording from the deployed build - the execution loop running end to 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Tone is the user's call - live build at https://next-africa.pages.dev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is deliberate. It is the fastest way to earn trust in Q and 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gif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D26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5C4DE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638251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3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NEXT Africa  |  Borderless Bytes Hackathon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0682935" y="6382512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3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5C4DE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051560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240" kern="0" dirty="0">
                <a:solidFill>
                  <a:srgbClr val="9F8C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BORDERLESS BYTES HACKATHON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777240" y="1481328"/>
            <a:ext cx="100584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NEXT Africa</a:t>
            </a:r>
            <a:endParaRPr lang="en-US" sz="6200" dirty="0"/>
          </a:p>
        </p:txBody>
      </p:sp>
      <p:sp>
        <p:nvSpPr>
          <p:cNvPr id="8" name="Text 6"/>
          <p:cNvSpPr/>
          <p:nvPr/>
        </p:nvSpPr>
        <p:spPr>
          <a:xfrm>
            <a:off x="777240" y="2542032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C9CEE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personal execution copilot</a:t>
            </a:r>
            <a:endParaRPr lang="en-US" sz="2500" dirty="0"/>
          </a:p>
        </p:txBody>
      </p:sp>
      <p:sp>
        <p:nvSpPr>
          <p:cNvPr id="9" name="Shape 7"/>
          <p:cNvSpPr/>
          <p:nvPr/>
        </p:nvSpPr>
        <p:spPr>
          <a:xfrm>
            <a:off x="777240" y="3310128"/>
            <a:ext cx="1005840" cy="0"/>
          </a:xfrm>
          <a:prstGeom prst="line">
            <a:avLst/>
          </a:prstGeom>
          <a:noFill/>
          <a:ln w="38100">
            <a:solidFill>
              <a:srgbClr val="5C4DE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3611880"/>
            <a:ext cx="6858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50" dirty="0">
                <a:solidFill>
                  <a:srgbClr val="AEB6D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Tell it what matters in the same words you would use in a WhatsApp message.</a:t>
            </a:r>
            <a:endParaRPr lang="en-US" sz="14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50" dirty="0">
                <a:solidFill>
                  <a:srgbClr val="AEB6D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It turns the promise into a dated commitment, then follows through until it is done.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777240" y="5074920"/>
            <a:ext cx="5486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Mobolaji Opeyemi Bolatito</a:t>
            </a:r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8F97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Developer
</a:t>
            </a:r>
            <a:pPr indent="0" marL="0">
              <a:lnSpc>
                <a:spcPct val="13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Oluwatamilore Paul Olubanwo</a:t>
            </a:r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8F97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Product Manager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772400" y="3931920"/>
            <a:ext cx="3611880" cy="1371600"/>
          </a:xfrm>
          <a:prstGeom prst="roundRect">
            <a:avLst>
              <a:gd name="adj" fmla="val 5333"/>
            </a:avLst>
          </a:prstGeom>
          <a:solidFill>
            <a:srgbClr val="232D4B"/>
          </a:solidFill>
          <a:ln w="12700">
            <a:solidFill>
              <a:srgbClr val="39456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065008" y="4160520"/>
            <a:ext cx="3017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9F8C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 BUILD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8065008" y="4443984"/>
            <a:ext cx="31089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next-africa.pages.dev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065008" y="4791456"/>
            <a:ext cx="31089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F97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API + docs: next-africa.onrender.com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77240" y="638251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59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NEXT Africa  |  Borderless Bytes Hackathon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5C4DE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638251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B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NEXT Africa  |  Borderless Bytes Hackathon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0682935" y="6382512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B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77240" y="4572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5C4DE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PROBLEM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777240" y="749808"/>
            <a:ext cx="104241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D26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 here runs on conversation, not calendars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777240" y="1417320"/>
            <a:ext cx="99669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E74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Across Africa the commitment is real and binding - and it is living in a chat thread with 400 other messages.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777240" y="1371600"/>
            <a:ext cx="822960" cy="0"/>
          </a:xfrm>
          <a:prstGeom prst="line">
            <a:avLst/>
          </a:prstGeom>
          <a:noFill/>
          <a:ln w="31750">
            <a:solidFill>
              <a:srgbClr val="5C4DE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77240" y="2057400"/>
            <a:ext cx="10607040" cy="1051560"/>
          </a:xfrm>
          <a:prstGeom prst="roundRect">
            <a:avLst>
              <a:gd name="adj" fmla="val 5217"/>
            </a:avLst>
          </a:prstGeom>
          <a:solidFill>
            <a:srgbClr val="EFEDFF"/>
          </a:solidFill>
          <a:ln w="12700">
            <a:solidFill>
              <a:srgbClr val="DCD7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0" y="2057400"/>
            <a:ext cx="996696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463C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"send the proposal before the Thursday meeting"  -  "remind me to follow up with Dana"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777240" y="3291840"/>
            <a:ext cx="5143500" cy="1207008"/>
          </a:xfrm>
          <a:prstGeom prst="roundRect">
            <a:avLst>
              <a:gd name="adj" fmla="val 4545"/>
            </a:avLst>
          </a:prstGeom>
          <a:solidFill>
            <a:srgbClr val="F7F7FB"/>
          </a:solidFill>
          <a:ln w="12700">
            <a:solidFill>
              <a:srgbClr val="E4E2E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33272" y="3474720"/>
            <a:ext cx="463143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D26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Calendar-first apps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1033272" y="3822192"/>
            <a:ext cx="4631436" cy="5212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E74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Assume you block time deliberately. Our users negotiate the day in the moment.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240780" y="3291840"/>
            <a:ext cx="5143500" cy="1207008"/>
          </a:xfrm>
          <a:prstGeom prst="roundRect">
            <a:avLst>
              <a:gd name="adj" fmla="val 4545"/>
            </a:avLst>
          </a:prstGeom>
          <a:solidFill>
            <a:srgbClr val="F7F7FB"/>
          </a:solidFill>
          <a:ln w="12700">
            <a:solidFill>
              <a:srgbClr val="E4E2E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96812" y="3474720"/>
            <a:ext cx="463143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D26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Task managers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6496812" y="3822192"/>
            <a:ext cx="4631436" cy="5212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E74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Assume a desktop and steady bandwidth. Data cost and patchy signal are real.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777240" y="4773168"/>
            <a:ext cx="5143500" cy="1207008"/>
          </a:xfrm>
          <a:prstGeom prst="roundRect">
            <a:avLst>
              <a:gd name="adj" fmla="val 4545"/>
            </a:avLst>
          </a:prstGeom>
          <a:solidFill>
            <a:srgbClr val="F7F7FB"/>
          </a:solidFill>
          <a:ln w="12700">
            <a:solidFill>
              <a:srgbClr val="E4E2E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33272" y="4956048"/>
            <a:ext cx="463143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D26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Email workflows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1033272" y="5303520"/>
            <a:ext cx="4631436" cy="5212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E74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Assume email is the record of work. Threads and voice notes carry the load.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240780" y="4773168"/>
            <a:ext cx="5143500" cy="1207008"/>
          </a:xfrm>
          <a:prstGeom prst="roundRect">
            <a:avLst>
              <a:gd name="adj" fmla="val 4545"/>
            </a:avLst>
          </a:prstGeom>
          <a:solidFill>
            <a:srgbClr val="F7F7FB"/>
          </a:solidFill>
          <a:ln w="12700">
            <a:solidFill>
              <a:srgbClr val="E4E2E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96812" y="4956048"/>
            <a:ext cx="463143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D26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 PM tools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6496812" y="5303520"/>
            <a:ext cx="4631436" cy="5212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E74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Priced for salaried teams. Our users are students, traders and solo operators.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5C4DE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638251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B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NEXT Africa  |  Borderless Bytes Hackathon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0682935" y="6382512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B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77240" y="4572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5C4DE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TARGET AUDIENCE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777240" y="749808"/>
            <a:ext cx="104241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D26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Who this is built for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777240" y="1417320"/>
            <a:ext cx="99669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E74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shared reality: the work arrives as conversation, on a phone, in another language than the software.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777240" y="1371600"/>
            <a:ext cx="822960" cy="0"/>
          </a:xfrm>
          <a:prstGeom prst="line">
            <a:avLst/>
          </a:prstGeom>
          <a:noFill/>
          <a:ln w="31750">
            <a:solidFill>
              <a:srgbClr val="5C4DE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77240" y="2011680"/>
            <a:ext cx="5143500" cy="1463040"/>
          </a:xfrm>
          <a:prstGeom prst="roundRect">
            <a:avLst>
              <a:gd name="adj" fmla="val 3750"/>
            </a:avLst>
          </a:prstGeom>
          <a:solidFill>
            <a:srgbClr val="EFEDFF"/>
          </a:solidFill>
          <a:ln w="12700">
            <a:solidFill>
              <a:srgbClr val="DCD7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33272" y="2194560"/>
            <a:ext cx="463143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C4DE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Amina, 24 - fashion freelancer, Lagos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1033272" y="2542032"/>
            <a:ext cx="4631436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E74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Client messages and voice notes while hand-sewing. Cannot sit at a laptop mid-work, and a calendar assumes she already knows tomorrow hour by hour.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240780" y="2011680"/>
            <a:ext cx="5143500" cy="1463040"/>
          </a:xfrm>
          <a:prstGeom prst="roundRect">
            <a:avLst>
              <a:gd name="adj" fmla="val 3750"/>
            </a:avLst>
          </a:prstGeom>
          <a:solidFill>
            <a:srgbClr val="EFEDFF"/>
          </a:solidFill>
          <a:ln w="12700">
            <a:solidFill>
              <a:srgbClr val="DCD7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96812" y="2194560"/>
            <a:ext cx="463143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C4DE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Tunde, 31 - trader, Onitsha market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6496812" y="2542032"/>
            <a:ext cx="4631436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E74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Verbal requests side by side, stock deadlines, payment promises. Task apps need constant typing; his commitments are spoken.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777240" y="3749040"/>
            <a:ext cx="5143500" cy="1463040"/>
          </a:xfrm>
          <a:prstGeom prst="roundRect">
            <a:avLst>
              <a:gd name="adj" fmla="val 3750"/>
            </a:avLst>
          </a:prstGeom>
          <a:solidFill>
            <a:srgbClr val="EFEDFF"/>
          </a:solidFill>
          <a:ln w="12700">
            <a:solidFill>
              <a:srgbClr val="DCD7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33272" y="3931920"/>
            <a:ext cx="463143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C4DE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Chioma, 19 - undergrad, Ibadan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1033272" y="4279392"/>
            <a:ext cx="4631436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E74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chats, forwarded PDFs, lecturer announcements. Nothing turns "the EOF document is due Thursday" into a dated, linked task.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240780" y="3749040"/>
            <a:ext cx="5143500" cy="1463040"/>
          </a:xfrm>
          <a:prstGeom prst="roundRect">
            <a:avLst>
              <a:gd name="adj" fmla="val 3750"/>
            </a:avLst>
          </a:prstGeom>
          <a:solidFill>
            <a:srgbClr val="EFEDFF"/>
          </a:solidFill>
          <a:ln w="12700">
            <a:solidFill>
              <a:srgbClr val="DCD7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96812" y="3931920"/>
            <a:ext cx="463143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C4DE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Dr. Bola, 45 - clinic owner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6496812" y="4279392"/>
            <a:ext cx="4631436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E74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Patients, vendors and staff promises over WhatsApp. Enterprise tools are priced for teams, not for a solo operator.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777240" y="5532120"/>
            <a:ext cx="10607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C4DE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Designed Africa-first: mobile-first, low-data, WhatsApp-native.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D26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5C4DE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638251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3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NEXT Africa  |  Borderless Bytes Hackathon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0682935" y="6382512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3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77240" y="22860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F8C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SOLUTION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77240" y="2697480"/>
            <a:ext cx="5394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It hears the promise, then makes it happen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777240" y="3977640"/>
            <a:ext cx="51206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9C0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Say it once, in your own words. NEXT structures it, dates it, and keeps the follow-through moving.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656832" y="1893380"/>
            <a:ext cx="4837176" cy="3071241"/>
          </a:xfrm>
          <a:prstGeom prst="rect">
            <a:avLst/>
          </a:prstGeom>
          <a:solidFill>
            <a:srgbClr val="232D4B"/>
          </a:solidFill>
          <a:ln w="12700">
            <a:solidFill>
              <a:srgbClr val="39456B"/>
            </a:solidFill>
            <a:prstDash val="solid"/>
          </a:ln>
        </p:spPr>
      </p:sp>
      <p:pic>
        <p:nvPicPr>
          <p:cNvPr id="9" name="Image 0" descr="C:\Users\USER\Documents\next\docs\assets\deck\01-land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20840" y="1957388"/>
            <a:ext cx="4709160" cy="294322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5C4DE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638251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B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NEXT Africa  |  Borderless Bytes Hackathon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0682935" y="6382512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B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77240" y="4572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5C4DE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PRODUCT - 01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777240" y="749808"/>
            <a:ext cx="104241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D26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Capture in the words you already use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777240" y="1417320"/>
            <a:ext cx="99669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E74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Type, attach a file, or send a voice note. It comes out as structured, dated commitments.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777240" y="1371600"/>
            <a:ext cx="822960" cy="0"/>
          </a:xfrm>
          <a:prstGeom prst="line">
            <a:avLst/>
          </a:prstGeom>
          <a:noFill/>
          <a:ln w="31750">
            <a:solidFill>
              <a:srgbClr val="5C4DE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934456" y="1993963"/>
            <a:ext cx="5550408" cy="3510153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EE"/>
            </a:solidFill>
            <a:prstDash val="solid"/>
          </a:ln>
          <a:effectLst>
            <a:outerShdw sx="100000" sy="100000" kx="0" ky="0" algn="bl" rotWithShape="0" blurRad="228600" dist="38100" dir="5400000">
              <a:srgbClr val="9AA0B2">
                <a:alpha val="28000"/>
              </a:srgbClr>
            </a:outerShdw>
          </a:effectLst>
        </p:spPr>
      </p:sp>
      <p:pic>
        <p:nvPicPr>
          <p:cNvPr id="10" name="Image 0" descr="C:\Users\USER\Documents\next\docs\assets\deck\04-cap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2048827"/>
            <a:ext cx="5440680" cy="3400425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777240" y="2185416"/>
            <a:ext cx="118872" cy="118872"/>
          </a:xfrm>
          <a:prstGeom prst="ellipse">
            <a:avLst/>
          </a:prstGeom>
          <a:solidFill>
            <a:srgbClr val="5C4DE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69848" y="2066544"/>
            <a:ext cx="4645152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D26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message becomes several commitments, each with a real date and type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777240" y="3054096"/>
            <a:ext cx="118872" cy="118872"/>
          </a:xfrm>
          <a:prstGeom prst="ellipse">
            <a:avLst/>
          </a:prstGeom>
          <a:solidFill>
            <a:srgbClr val="5C4DE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69848" y="2935224"/>
            <a:ext cx="4645152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D26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Up to 100 recent commitments are private context, so "it" and "the venue" resolve to the right thing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777240" y="3922776"/>
            <a:ext cx="118872" cy="118872"/>
          </a:xfrm>
          <a:prstGeom prst="ellipse">
            <a:avLst/>
          </a:prstGeom>
          <a:solidFill>
            <a:srgbClr val="5C4DE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1069848" y="3803904"/>
            <a:ext cx="4645152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D26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PDF, image, TXT, Markdown and CSV attachments up to 8 MB; voice is transcribed into the same pipeline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5C4DE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638251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B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NEXT Africa  |  Borderless Bytes Hackathon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0682935" y="6382512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B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06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77240" y="4572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5C4DE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PRODUCT - 02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777240" y="749808"/>
            <a:ext cx="104241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D26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Today is the only board that matters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777240" y="1417320"/>
            <a:ext cx="99669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E74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morning board, the waiting list, and live project progress - all data-driven, nothing fabricated.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777240" y="1371600"/>
            <a:ext cx="822960" cy="0"/>
          </a:xfrm>
          <a:prstGeom prst="line">
            <a:avLst/>
          </a:prstGeom>
          <a:noFill/>
          <a:ln w="31750">
            <a:solidFill>
              <a:srgbClr val="5C4DE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934456" y="1993963"/>
            <a:ext cx="5550408" cy="3510153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EE"/>
            </a:solidFill>
            <a:prstDash val="solid"/>
          </a:ln>
          <a:effectLst>
            <a:outerShdw sx="100000" sy="100000" kx="0" ky="0" algn="bl" rotWithShape="0" blurRad="228600" dist="38100" dir="5400000">
              <a:srgbClr val="9AA0B2">
                <a:alpha val="28000"/>
              </a:srgbClr>
            </a:outerShdw>
          </a:effectLst>
        </p:spPr>
      </p:sp>
      <p:pic>
        <p:nvPicPr>
          <p:cNvPr id="10" name="Image 0" descr="C:\Users\USER\Documents\next\docs\assets\deck\03-toda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2048827"/>
            <a:ext cx="5440680" cy="3400425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777240" y="2185416"/>
            <a:ext cx="118872" cy="118872"/>
          </a:xfrm>
          <a:prstGeom prst="ellipse">
            <a:avLst/>
          </a:prstGeom>
          <a:solidFill>
            <a:srgbClr val="5C4DE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69848" y="2066544"/>
            <a:ext cx="4645152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D26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Today, waiting-for and projects side by side, on one screen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777240" y="3054096"/>
            <a:ext cx="118872" cy="118872"/>
          </a:xfrm>
          <a:prstGeom prst="ellipse">
            <a:avLst/>
          </a:prstGeom>
          <a:solidFill>
            <a:srgbClr val="5C4DE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69848" y="2935224"/>
            <a:ext cx="4645152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D26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Edit a deadline, prepare a follow-up draft, and mark work done or waiting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777240" y="3922776"/>
            <a:ext cx="118872" cy="118872"/>
          </a:xfrm>
          <a:prstGeom prst="ellipse">
            <a:avLst/>
          </a:prstGeom>
          <a:solidFill>
            <a:srgbClr val="5C4DE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1069848" y="3803904"/>
            <a:ext cx="4645152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D26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Progress is recorded status - never a timer pretending work happened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5C4DE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638251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B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NEXT Africa  |  Borderless Bytes Hackathon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0682935" y="6382512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B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07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77240" y="4572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5C4DE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PRODUCT - 03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777240" y="749808"/>
            <a:ext cx="104241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D26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It follows up, so you do not have to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777240" y="1417320"/>
            <a:ext cx="99669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E74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Proactive nudges surface what is due, what is blocked, and what is waiting on someone else.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777240" y="1371600"/>
            <a:ext cx="822960" cy="0"/>
          </a:xfrm>
          <a:prstGeom prst="line">
            <a:avLst/>
          </a:prstGeom>
          <a:noFill/>
          <a:ln w="31750">
            <a:solidFill>
              <a:srgbClr val="5C4DE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934456" y="1993963"/>
            <a:ext cx="5550408" cy="3510153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EE"/>
            </a:solidFill>
            <a:prstDash val="solid"/>
          </a:ln>
          <a:effectLst>
            <a:outerShdw sx="100000" sy="100000" kx="0" ky="0" algn="bl" rotWithShape="0" blurRad="228600" dist="38100" dir="5400000">
              <a:srgbClr val="9AA0B2">
                <a:alpha val="28000"/>
              </a:srgbClr>
            </a:outerShdw>
          </a:effectLst>
        </p:spPr>
      </p:sp>
      <p:pic>
        <p:nvPicPr>
          <p:cNvPr id="10" name="Image 0" descr="C:\Users\USER\Documents\next\docs\assets\deck\06-nudg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2048827"/>
            <a:ext cx="5440680" cy="3400425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777240" y="2185416"/>
            <a:ext cx="118872" cy="118872"/>
          </a:xfrm>
          <a:prstGeom prst="ellipse">
            <a:avLst/>
          </a:prstGeom>
          <a:solidFill>
            <a:srgbClr val="5C4DE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69848" y="2066544"/>
            <a:ext cx="4645152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D26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Waiting items resurface until they are resolved, then stop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777240" y="3054096"/>
            <a:ext cx="118872" cy="118872"/>
          </a:xfrm>
          <a:prstGeom prst="ellipse">
            <a:avLst/>
          </a:prstGeom>
          <a:solidFill>
            <a:srgbClr val="5C4DE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69848" y="2935224"/>
            <a:ext cx="4645152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D26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Due windows follow your proactivity level: quiet 24h, balanced 48h, active 7 days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777240" y="3922776"/>
            <a:ext cx="118872" cy="118872"/>
          </a:xfrm>
          <a:prstGeom prst="ellipse">
            <a:avLst/>
          </a:prstGeom>
          <a:solidFill>
            <a:srgbClr val="5C4DE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1069848" y="3803904"/>
            <a:ext cx="4645152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D26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Opt-in Web Push sends a private daily summary with durable delivery records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5C4DE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638251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B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NEXT Africa  |  Borderless Bytes Hackathon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0682935" y="6382512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B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08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77240" y="4572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5C4DE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PRODUCT - 04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777240" y="749808"/>
            <a:ext cx="104241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D26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Projects assemble themselves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777240" y="1417320"/>
            <a:ext cx="99669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E74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promise made across five days and three chats is auto-linked into one project with progress.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777240" y="1371600"/>
            <a:ext cx="822960" cy="0"/>
          </a:xfrm>
          <a:prstGeom prst="line">
            <a:avLst/>
          </a:prstGeom>
          <a:noFill/>
          <a:ln w="31750">
            <a:solidFill>
              <a:srgbClr val="5C4DE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934456" y="1993963"/>
            <a:ext cx="5550408" cy="3510153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EE"/>
            </a:solidFill>
            <a:prstDash val="solid"/>
          </a:ln>
          <a:effectLst>
            <a:outerShdw sx="100000" sy="100000" kx="0" ky="0" algn="bl" rotWithShape="0" blurRad="228600" dist="38100" dir="5400000">
              <a:srgbClr val="9AA0B2">
                <a:alpha val="28000"/>
              </a:srgbClr>
            </a:outerShdw>
          </a:effectLst>
        </p:spPr>
      </p:sp>
      <p:pic>
        <p:nvPicPr>
          <p:cNvPr id="10" name="Image 0" descr="C:\Users\USER\Documents\next\docs\assets\deck\05-projec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2048827"/>
            <a:ext cx="5440680" cy="3400425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777240" y="2185416"/>
            <a:ext cx="118872" cy="118872"/>
          </a:xfrm>
          <a:prstGeom prst="ellipse">
            <a:avLst/>
          </a:prstGeom>
          <a:solidFill>
            <a:srgbClr val="5C4DE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69848" y="2066544"/>
            <a:ext cx="4645152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D26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Cross-message linking turns loose commitments into one trackable project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777240" y="3054096"/>
            <a:ext cx="118872" cy="118872"/>
          </a:xfrm>
          <a:prstGeom prst="ellipse">
            <a:avLst/>
          </a:prstGeom>
          <a:solidFill>
            <a:srgbClr val="5C4DE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69848" y="2935224"/>
            <a:ext cx="4645152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D26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Stage, owner and due tags stay visible without a project-management seat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777240" y="3922776"/>
            <a:ext cx="118872" cy="118872"/>
          </a:xfrm>
          <a:prstGeom prst="ellipse">
            <a:avLst/>
          </a:prstGeom>
          <a:solidFill>
            <a:srgbClr val="5C4DE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1069848" y="3803904"/>
            <a:ext cx="4645152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D26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Built for a solo operator, not a salaried team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5C4DE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638251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B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NEXT Africa  |  Borderless Bytes Hackathon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0682935" y="6382512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B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09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77240" y="4572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5C4DE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PRODUCT - 05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777240" y="749808"/>
            <a:ext cx="104241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D26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From approval to done, step by step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777240" y="1417320"/>
            <a:ext cx="99669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E74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loop you approved, worked through with live progress - this is where a "will do later" sentence stops dying in a thread.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777240" y="1371600"/>
            <a:ext cx="822960" cy="0"/>
          </a:xfrm>
          <a:prstGeom prst="line">
            <a:avLst/>
          </a:prstGeom>
          <a:noFill/>
          <a:ln w="31750">
            <a:solidFill>
              <a:srgbClr val="5C4DE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824949" y="1865376"/>
            <a:ext cx="5757743" cy="3904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EE"/>
            </a:solidFill>
            <a:prstDash val="solid"/>
          </a:ln>
          <a:effectLst>
            <a:outerShdw sx="100000" sy="100000" kx="0" ky="0" algn="bl" rotWithShape="0" blurRad="228600" dist="38100" dir="5400000">
              <a:srgbClr val="9AA0B2">
                <a:alpha val="28000"/>
              </a:srgbClr>
            </a:outerShdw>
          </a:effectLst>
        </p:spPr>
      </p:sp>
      <p:pic>
        <p:nvPicPr>
          <p:cNvPr id="10" name="Image 0" descr="C:\Users\USER\Documents\next\docs\assets\005-execute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79813" y="1920240"/>
            <a:ext cx="5648015" cy="3794760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777240" y="2276856"/>
            <a:ext cx="118872" cy="118872"/>
          </a:xfrm>
          <a:prstGeom prst="ellipse">
            <a:avLst/>
          </a:prstGeom>
          <a:solidFill>
            <a:srgbClr val="5C4DE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69848" y="2157984"/>
            <a:ext cx="2724912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D26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Understand, plan, decide, follow through, review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777240" y="3191256"/>
            <a:ext cx="118872" cy="118872"/>
          </a:xfrm>
          <a:prstGeom prst="ellipse">
            <a:avLst/>
          </a:prstGeom>
          <a:solidFill>
            <a:srgbClr val="5C4DE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69848" y="3072384"/>
            <a:ext cx="2724912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D26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 approve the plan before anything runs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777240" y="4105656"/>
            <a:ext cx="118872" cy="118872"/>
          </a:xfrm>
          <a:prstGeom prst="ellipse">
            <a:avLst/>
          </a:prstGeom>
          <a:solidFill>
            <a:srgbClr val="5C4DE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1069848" y="3986784"/>
            <a:ext cx="2724912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D26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step is visible and recorded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5C4DE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638251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B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NEXT Africa  |  Borderless Bytes Hackathon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0682935" y="6382512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B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77240" y="4572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5C4DE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PRODUCT - 06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777240" y="749808"/>
            <a:ext cx="104241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D26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Tone is the user's call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777240" y="1417320"/>
            <a:ext cx="99669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E74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"Remind me, but do not nag me" is a setting, not a personality test.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777240" y="1371600"/>
            <a:ext cx="822960" cy="0"/>
          </a:xfrm>
          <a:prstGeom prst="line">
            <a:avLst/>
          </a:prstGeom>
          <a:noFill/>
          <a:ln w="31750">
            <a:solidFill>
              <a:srgbClr val="5C4DE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934456" y="1993963"/>
            <a:ext cx="5550408" cy="3510153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EE"/>
            </a:solidFill>
            <a:prstDash val="solid"/>
          </a:ln>
          <a:effectLst>
            <a:outerShdw sx="100000" sy="100000" kx="0" ky="0" algn="bl" rotWithShape="0" blurRad="228600" dist="38100" dir="5400000">
              <a:srgbClr val="9AA0B2">
                <a:alpha val="28000"/>
              </a:srgbClr>
            </a:outerShdw>
          </a:effectLst>
        </p:spPr>
      </p:sp>
      <p:pic>
        <p:nvPicPr>
          <p:cNvPr id="10" name="Image 0" descr="C:\Users\USER\Documents\next\docs\assets\deck\07-setting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2048827"/>
            <a:ext cx="5440680" cy="3400425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777240" y="2185416"/>
            <a:ext cx="118872" cy="118872"/>
          </a:xfrm>
          <a:prstGeom prst="ellipse">
            <a:avLst/>
          </a:prstGeom>
          <a:solidFill>
            <a:srgbClr val="5C4DE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69848" y="2066544"/>
            <a:ext cx="4645152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D26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Quiet, balanced and active change the due window and waiting follow-ups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777240" y="3054096"/>
            <a:ext cx="118872" cy="118872"/>
          </a:xfrm>
          <a:prstGeom prst="ellipse">
            <a:avLst/>
          </a:prstGeom>
          <a:solidFill>
            <a:srgbClr val="5C4DE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69848" y="2935224"/>
            <a:ext cx="4645152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D26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"Remind me tomorrow" snoozes for 24 hours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777240" y="3922776"/>
            <a:ext cx="118872" cy="118872"/>
          </a:xfrm>
          <a:prstGeom prst="ellipse">
            <a:avLst/>
          </a:prstGeom>
          <a:solidFill>
            <a:srgbClr val="5C4DE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1069848" y="3803904"/>
            <a:ext cx="4645152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D26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Dates use the timezone chosen in settings, Africa/Lagos by default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5C4DE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638251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B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NEXT Africa  |  Borderless Bytes Hackathon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0682935" y="6382512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B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77240" y="4572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5C4DE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UNDER THE HOOD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777240" y="749808"/>
            <a:ext cx="104241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D26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small, honest architecture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777240" y="1417320"/>
            <a:ext cx="99669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E74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Three deployable pieces. No queue, no cluster, no vendor lock - and no claim we cannot demonstrate.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777240" y="1371600"/>
            <a:ext cx="822960" cy="0"/>
          </a:xfrm>
          <a:prstGeom prst="line">
            <a:avLst/>
          </a:prstGeom>
          <a:noFill/>
          <a:ln w="31750">
            <a:solidFill>
              <a:srgbClr val="5C4DE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77240" y="2011680"/>
            <a:ext cx="5143500" cy="1298448"/>
          </a:xfrm>
          <a:prstGeom prst="roundRect">
            <a:avLst>
              <a:gd name="adj" fmla="val 4225"/>
            </a:avLst>
          </a:prstGeom>
          <a:solidFill>
            <a:srgbClr val="F7F7FB"/>
          </a:solidFill>
          <a:ln w="12700">
            <a:solidFill>
              <a:srgbClr val="E4E2E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33272" y="2194560"/>
            <a:ext cx="463143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C4DE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Frontend - React 19 + Vite 8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1033272" y="2542032"/>
            <a:ext cx="4631436" cy="6126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E74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State-based SPA, low-data by design, deployed on Cloudflare Pages. Talks to the API over a single base URL.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240780" y="2011680"/>
            <a:ext cx="5143500" cy="1298448"/>
          </a:xfrm>
          <a:prstGeom prst="roundRect">
            <a:avLst>
              <a:gd name="adj" fmla="val 4225"/>
            </a:avLst>
          </a:prstGeom>
          <a:solidFill>
            <a:srgbClr val="F7F7FB"/>
          </a:solidFill>
          <a:ln w="12700">
            <a:solidFill>
              <a:srgbClr val="E4E2E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96812" y="2194560"/>
            <a:ext cx="463143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C4DE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Backend - Node 24 + Express 5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6496812" y="2542032"/>
            <a:ext cx="4631436" cy="6126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E74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REST API with JWT auth, zod validation, helmet, rate limiting and pino logging. Deployed on Render.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777240" y="3584448"/>
            <a:ext cx="5143500" cy="1298448"/>
          </a:xfrm>
          <a:prstGeom prst="roundRect">
            <a:avLst>
              <a:gd name="adj" fmla="val 4225"/>
            </a:avLst>
          </a:prstGeom>
          <a:solidFill>
            <a:srgbClr val="F7F7FB"/>
          </a:solidFill>
          <a:ln w="12700">
            <a:solidFill>
              <a:srgbClr val="E4E2E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33272" y="3767328"/>
            <a:ext cx="463143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C4DE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Database - PostgreSQL 17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1033272" y="4114800"/>
            <a:ext cx="4631436" cy="6126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E74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Users, commitments, projects, nudges and push records, with indexes and FK constraints. Migrations apply on boot.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240780" y="3584448"/>
            <a:ext cx="5143500" cy="1298448"/>
          </a:xfrm>
          <a:prstGeom prst="roundRect">
            <a:avLst>
              <a:gd name="adj" fmla="val 4225"/>
            </a:avLst>
          </a:prstGeom>
          <a:solidFill>
            <a:srgbClr val="F7F7FB"/>
          </a:solidFill>
          <a:ln w="12700">
            <a:solidFill>
              <a:srgbClr val="E4E2E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96812" y="3767328"/>
            <a:ext cx="463143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C4DE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Intelligence - OpenAI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6496812" y="4114800"/>
            <a:ext cx="4631436" cy="6126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E74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GPT-4o mini for structured extraction via tool calls, Whisper-1 for voice. Timeouts and retries are configured.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777240" y="5074920"/>
            <a:ext cx="10607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C4DE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Auth is stateless JWT, so any instance can serve any request and horizontal scaling stays trivial.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5C4DE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638251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B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NEXT Africa  |  Borderless Bytes Hackathon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0682935" y="6382512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B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77240" y="4572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5C4DE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TECH STACK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777240" y="749808"/>
            <a:ext cx="104241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D26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Everything we used, and why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777240" y="1417320"/>
            <a:ext cx="99669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E74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Boring, current, and chosen so a teammate could read it on day one.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777240" y="1371600"/>
            <a:ext cx="822960" cy="0"/>
          </a:xfrm>
          <a:prstGeom prst="line">
            <a:avLst/>
          </a:prstGeom>
          <a:noFill/>
          <a:ln w="31750">
            <a:solidFill>
              <a:srgbClr val="5C4DE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77240" y="2011680"/>
            <a:ext cx="5166360" cy="1097280"/>
          </a:xfrm>
          <a:prstGeom prst="roundRect">
            <a:avLst>
              <a:gd name="adj" fmla="val 4167"/>
            </a:avLst>
          </a:prstGeom>
          <a:solidFill>
            <a:srgbClr val="EFEDFF"/>
          </a:solidFill>
          <a:ln w="12700">
            <a:solidFill>
              <a:srgbClr val="DCD7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14984" y="2167128"/>
            <a:ext cx="46634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5C4DE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FRONTEND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1014984" y="2450592"/>
            <a:ext cx="4709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D26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React 19, Vite 8, Tailwind CSS 4, Playwright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217920" y="2011680"/>
            <a:ext cx="5166360" cy="1097280"/>
          </a:xfrm>
          <a:prstGeom prst="roundRect">
            <a:avLst>
              <a:gd name="adj" fmla="val 4167"/>
            </a:avLst>
          </a:prstGeom>
          <a:solidFill>
            <a:srgbClr val="F7F7FB"/>
          </a:solidFill>
          <a:ln w="12700">
            <a:solidFill>
              <a:srgbClr val="E4E2E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55664" y="2167128"/>
            <a:ext cx="46634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5C4DE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BACKEND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6455664" y="2450592"/>
            <a:ext cx="4709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D26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Node 24, Express 5, zod, pino, helmet, express-rate-limit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77240" y="3310128"/>
            <a:ext cx="5166360" cy="1097280"/>
          </a:xfrm>
          <a:prstGeom prst="roundRect">
            <a:avLst>
              <a:gd name="adj" fmla="val 4167"/>
            </a:avLst>
          </a:prstGeom>
          <a:solidFill>
            <a:srgbClr val="EFEDFF"/>
          </a:solidFill>
          <a:ln w="12700">
            <a:solidFill>
              <a:srgbClr val="DCD7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14984" y="3465576"/>
            <a:ext cx="46634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5C4DE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014984" y="3749040"/>
            <a:ext cx="4709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D26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PostgreSQL 17, pg, SQL migrations, JWT (jsonwebtoken), bcrypt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217920" y="3310128"/>
            <a:ext cx="5166360" cy="1097280"/>
          </a:xfrm>
          <a:prstGeom prst="roundRect">
            <a:avLst>
              <a:gd name="adj" fmla="val 4167"/>
            </a:avLst>
          </a:prstGeom>
          <a:solidFill>
            <a:srgbClr val="F7F7FB"/>
          </a:solidFill>
          <a:ln w="12700">
            <a:solidFill>
              <a:srgbClr val="E4E2E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55664" y="3465576"/>
            <a:ext cx="46634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5C4DE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6455664" y="3749040"/>
            <a:ext cx="4709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D26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OpenAI GPT-4o mini, Whisper-1, tool-call extraction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77240" y="4608576"/>
            <a:ext cx="5166360" cy="1097280"/>
          </a:xfrm>
          <a:prstGeom prst="roundRect">
            <a:avLst>
              <a:gd name="adj" fmla="val 4167"/>
            </a:avLst>
          </a:prstGeom>
          <a:solidFill>
            <a:srgbClr val="EFEDFF"/>
          </a:solidFill>
          <a:ln w="12700">
            <a:solidFill>
              <a:srgbClr val="DCD7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14984" y="4764024"/>
            <a:ext cx="46634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5C4DE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PLATFORM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1014984" y="5047488"/>
            <a:ext cx="4709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D26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Cloudflare Pages, Render, Render Postgres, Web Push (VAPID)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217920" y="4608576"/>
            <a:ext cx="5166360" cy="1097280"/>
          </a:xfrm>
          <a:prstGeom prst="roundRect">
            <a:avLst>
              <a:gd name="adj" fmla="val 4167"/>
            </a:avLst>
          </a:prstGeom>
          <a:solidFill>
            <a:srgbClr val="F7F7FB"/>
          </a:solidFill>
          <a:ln w="12700">
            <a:solidFill>
              <a:srgbClr val="E4E2E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55664" y="4764024"/>
            <a:ext cx="46634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5C4DE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TOOLING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6455664" y="5047488"/>
            <a:ext cx="4709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D26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npm workspaces, ESLint 10, Prettier, commitlint, GitHub Actions CI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D26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5C4DE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638251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3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NEXT Africa  |  Borderless Bytes Hackathon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0682935" y="6382512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3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77240" y="4572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5C4DE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IT DOES NOT DO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777240" y="749808"/>
            <a:ext cx="104241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D26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honest limitations slide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777240" y="1417320"/>
            <a:ext cx="99669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E74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one of these is a deliberate boundary, stated in the README and in the code.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777240" y="1371600"/>
            <a:ext cx="822960" cy="0"/>
          </a:xfrm>
          <a:prstGeom prst="line">
            <a:avLst/>
          </a:prstGeom>
          <a:noFill/>
          <a:ln w="31750">
            <a:solidFill>
              <a:srgbClr val="5C4DE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77240" y="2057400"/>
            <a:ext cx="10607040" cy="566928"/>
          </a:xfrm>
          <a:prstGeom prst="roundRect">
            <a:avLst>
              <a:gd name="adj" fmla="val 6452"/>
            </a:avLst>
          </a:prstGeom>
          <a:solidFill>
            <a:srgbClr val="232D4B"/>
          </a:solidFill>
          <a:ln w="12700">
            <a:solidFill>
              <a:srgbClr val="39456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96696" y="2057400"/>
            <a:ext cx="4572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F8C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508760" y="2057400"/>
            <a:ext cx="96012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6CCE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autonomous task execution and no message sending. Drafts are prepared for your review and stay unsent.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77240" y="2770632"/>
            <a:ext cx="10607040" cy="566928"/>
          </a:xfrm>
          <a:prstGeom prst="roundRect">
            <a:avLst>
              <a:gd name="adj" fmla="val 6452"/>
            </a:avLst>
          </a:prstGeom>
          <a:solidFill>
            <a:srgbClr val="232D4B"/>
          </a:solidFill>
          <a:ln w="12700">
            <a:solidFill>
              <a:srgbClr val="39456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96696" y="2770632"/>
            <a:ext cx="4572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F8C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508760" y="2770632"/>
            <a:ext cx="96012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6CCE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Progress is based on saved statuses, never a timer. We do not simulate work that did not happen.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77240" y="3483864"/>
            <a:ext cx="10607040" cy="566928"/>
          </a:xfrm>
          <a:prstGeom prst="roundRect">
            <a:avLst>
              <a:gd name="adj" fmla="val 6452"/>
            </a:avLst>
          </a:prstGeom>
          <a:solidFill>
            <a:srgbClr val="232D4B"/>
          </a:solidFill>
          <a:ln w="12700">
            <a:solidFill>
              <a:srgbClr val="39456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96696" y="3483864"/>
            <a:ext cx="4572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F8C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508760" y="3483864"/>
            <a:ext cx="96012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6CCE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calls need a real OPENAI_API_KEY. Our automated tests stub them, and we never present mocked calls as live.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777240" y="4197096"/>
            <a:ext cx="10607040" cy="566928"/>
          </a:xfrm>
          <a:prstGeom prst="roundRect">
            <a:avLst>
              <a:gd name="adj" fmla="val 6452"/>
            </a:avLst>
          </a:prstGeom>
          <a:solidFill>
            <a:srgbClr val="232D4B"/>
          </a:solidFill>
          <a:ln w="12700">
            <a:solidFill>
              <a:srgbClr val="39456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96696" y="4197096"/>
            <a:ext cx="4572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F8C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508760" y="4197096"/>
            <a:ext cx="96012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6CCE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Browser push needs VAPID keys and a secure origin. Reminders are a best-effort summary, not an alarm service.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77240" y="4910328"/>
            <a:ext cx="10607040" cy="566928"/>
          </a:xfrm>
          <a:prstGeom prst="roundRect">
            <a:avLst>
              <a:gd name="adj" fmla="val 6452"/>
            </a:avLst>
          </a:prstGeom>
          <a:solidFill>
            <a:srgbClr val="232D4B"/>
          </a:solidFill>
          <a:ln w="12700">
            <a:solidFill>
              <a:srgbClr val="39456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96696" y="4910328"/>
            <a:ext cx="4572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F8C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508760" y="4910328"/>
            <a:ext cx="96012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6CCE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Google sign-in is not offered. Email and password only, with bcrypt hashing and signed sessions.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777240" y="5806440"/>
            <a:ext cx="10607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F97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Judges: ask us to break any of these claims. We will show you the code.</a:t>
            </a:r>
            <a:endParaRPr lang="en-US" sz="12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5C4DE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638251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B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NEXT Africa  |  Borderless Bytes Hackathon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0682935" y="6382512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B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77240" y="4572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5C4DE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STATUS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777240" y="749808"/>
            <a:ext cx="104241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D26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Shipped, deployed, and usable today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777240" y="1417320"/>
            <a:ext cx="99669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E74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 a prototype on a laptop. This is the live build the demo runs against.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777240" y="1371600"/>
            <a:ext cx="822960" cy="0"/>
          </a:xfrm>
          <a:prstGeom prst="line">
            <a:avLst/>
          </a:prstGeom>
          <a:noFill/>
          <a:ln w="31750">
            <a:solidFill>
              <a:srgbClr val="5C4DE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77240" y="2011680"/>
            <a:ext cx="10607040" cy="5486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4E2E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14984" y="2011680"/>
            <a:ext cx="2103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26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 app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246120" y="2011680"/>
            <a:ext cx="4937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4DE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https://next-africa.pages.dev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275320" y="201168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74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Cloudflare Pages, mobile-first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777240" y="2670048"/>
            <a:ext cx="10607040" cy="548640"/>
          </a:xfrm>
          <a:prstGeom prst="roundRect">
            <a:avLst>
              <a:gd name="adj" fmla="val 6667"/>
            </a:avLst>
          </a:prstGeom>
          <a:solidFill>
            <a:srgbClr val="F7F7FB"/>
          </a:solidFill>
          <a:ln w="12700">
            <a:solidFill>
              <a:srgbClr val="E4E2E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14984" y="2670048"/>
            <a:ext cx="2103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26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 API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246120" y="2670048"/>
            <a:ext cx="4937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4DE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https://next-africa.onrender.com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8275320" y="2670048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74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Render web service, health-checked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77240" y="3328416"/>
            <a:ext cx="10607040" cy="5486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4E2E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14984" y="3328416"/>
            <a:ext cx="2103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26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API docs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246120" y="3328416"/>
            <a:ext cx="4937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4DE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https://next-africa.onrender.com/api/docs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8275320" y="3328416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74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Interactive, generated from the running app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777240" y="3986784"/>
            <a:ext cx="10607040" cy="548640"/>
          </a:xfrm>
          <a:prstGeom prst="roundRect">
            <a:avLst>
              <a:gd name="adj" fmla="val 6667"/>
            </a:avLst>
          </a:prstGeom>
          <a:solidFill>
            <a:srgbClr val="F7F7FB"/>
          </a:solidFill>
          <a:ln w="12700">
            <a:solidFill>
              <a:srgbClr val="E4E2E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14984" y="3986784"/>
            <a:ext cx="2103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26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Database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3246120" y="3986784"/>
            <a:ext cx="4937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4DE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Render PostgreSQL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8275320" y="3986784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74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Migrations applied, demo data seeded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777240" y="4645152"/>
            <a:ext cx="10607040" cy="5486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4E2E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14984" y="4645152"/>
            <a:ext cx="2103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26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Tests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3246120" y="4645152"/>
            <a:ext cx="4937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4DE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passing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8275320" y="4645152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74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node:test, covering auth, dates, files and dedupe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777240" y="5486400"/>
            <a:ext cx="10607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E74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Demo account is seeded so a judge can log in without setup.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D26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5C4DE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638251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3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NEXT Africa  |  Borderless Bytes Hackathon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0682935" y="6382512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3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5C4DE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960120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9F8C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COMES NEXT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777240" y="1325880"/>
            <a:ext cx="9144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Roadmap</a:t>
            </a:r>
            <a:endParaRPr lang="en-US" sz="4000" dirty="0"/>
          </a:p>
        </p:txBody>
      </p:sp>
      <p:sp>
        <p:nvSpPr>
          <p:cNvPr id="8" name="Shape 6"/>
          <p:cNvSpPr/>
          <p:nvPr/>
        </p:nvSpPr>
        <p:spPr>
          <a:xfrm>
            <a:off x="777240" y="2569464"/>
            <a:ext cx="146304" cy="146304"/>
          </a:xfrm>
          <a:prstGeom prst="ellipse">
            <a:avLst/>
          </a:prstGeom>
          <a:solidFill>
            <a:srgbClr val="5C4DE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50392" y="2734056"/>
            <a:ext cx="0" cy="457200"/>
          </a:xfrm>
          <a:prstGeom prst="line">
            <a:avLst/>
          </a:prstGeom>
          <a:noFill/>
          <a:ln w="19050">
            <a:solidFill>
              <a:srgbClr val="3B467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61288" y="2459736"/>
            <a:ext cx="1005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F8C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Now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240280" y="2459736"/>
            <a:ext cx="8778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6CCE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Working capture-to-done loop, live on the public internet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77240" y="3227832"/>
            <a:ext cx="146304" cy="146304"/>
          </a:xfrm>
          <a:prstGeom prst="ellipse">
            <a:avLst/>
          </a:prstGeom>
          <a:solidFill>
            <a:srgbClr val="5C4DE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50392" y="3392424"/>
            <a:ext cx="0" cy="457200"/>
          </a:xfrm>
          <a:prstGeom prst="line">
            <a:avLst/>
          </a:prstGeom>
          <a:noFill/>
          <a:ln w="19050">
            <a:solidFill>
              <a:srgbClr val="3B467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3118104"/>
            <a:ext cx="1005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F8C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Next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2240280" y="3118104"/>
            <a:ext cx="8778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6CCE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WhatsApp bot intake, so the promise never has to leave the chat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777240" y="3886200"/>
            <a:ext cx="146304" cy="146304"/>
          </a:xfrm>
          <a:prstGeom prst="ellipse">
            <a:avLst/>
          </a:prstGeom>
          <a:solidFill>
            <a:srgbClr val="5C4DE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" y="4050792"/>
            <a:ext cx="0" cy="457200"/>
          </a:xfrm>
          <a:prstGeom prst="line">
            <a:avLst/>
          </a:prstGeom>
          <a:noFill/>
          <a:ln w="19050">
            <a:solidFill>
              <a:srgbClr val="3B467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161288" y="3776472"/>
            <a:ext cx="1005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F8C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Then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2240280" y="3776472"/>
            <a:ext cx="8778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6CCE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Local languages and offline-first sync for low-data users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777240" y="4544568"/>
            <a:ext cx="146304" cy="146304"/>
          </a:xfrm>
          <a:prstGeom prst="ellipse">
            <a:avLst/>
          </a:prstGeom>
          <a:solidFill>
            <a:srgbClr val="5C4DE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161288" y="4434840"/>
            <a:ext cx="1005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F8C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Later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2240280" y="4434840"/>
            <a:ext cx="8778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6CCE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Team and SME tiers for clinics, traders and small studios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777240" y="5440680"/>
            <a:ext cx="10607040" cy="0"/>
          </a:xfrm>
          <a:prstGeom prst="line">
            <a:avLst/>
          </a:prstGeom>
          <a:noFill/>
          <a:ln w="12700">
            <a:solidFill>
              <a:srgbClr val="39456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77240" y="557784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NEXT Africa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777240" y="6016752"/>
            <a:ext cx="6400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F97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Tell it what matters. It makes sure it happens.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7680960" y="5577840"/>
            <a:ext cx="3703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9F8C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https://next-africa.pages.dev</a:t>
            </a:r>
            <a:pPr algn="r" indent="0" marL="0">
              <a:buNone/>
            </a:pPr>
            <a:endParaRPr lang="en-US" sz="1150" dirty="0"/>
          </a:p>
          <a:p>
            <a:pPr algn="r" indent="0" marL="0">
              <a:buNone/>
            </a:pPr>
            <a:r>
              <a:rPr lang="en-US" sz="1150" dirty="0">
                <a:solidFill>
                  <a:srgbClr val="6C759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https://next-africa.onrender.com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777240" y="638251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59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NEXT Africa  |  Borderless Bytes Hackathon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NEXT Africa - a personal execution copilot</dc:title>
  <dc:subject>Borderless Bytes Hackathon</dc:subject>
  <dc:creator>Mobolaji Opeyemi Bolatito, Oluwatamilore Paul Olubanwo</dc:creator>
  <cp:lastModifiedBy>Mobolaji Opeyemi Bolatito, Oluwatamilore Paul Olubanwo</cp:lastModifiedBy>
  <cp:revision>1</cp:revision>
  <dcterms:created xsi:type="dcterms:W3CDTF">2026-09-26T10:25:55Z</dcterms:created>
  <dcterms:modified xsi:type="dcterms:W3CDTF">2026-09-26T10:25:55Z</dcterms:modified>
</cp:coreProperties>
</file>